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367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1123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24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826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183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987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902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9224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2554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59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0772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0272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0894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45837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5295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955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2F0F7-A3AA-4FB4-93C3-5A67B24B1D9E}" type="datetimeFigureOut">
              <a:rPr lang="uk-UA" smtClean="0"/>
              <a:t>26.11.2021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AD9D74-A067-474D-B841-7C6C22387B4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00983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4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video" Target="../media/media5.mp4"/><Relationship Id="rId5" Type="http://schemas.microsoft.com/office/2007/relationships/media" Target="../media/media5.mp4"/><Relationship Id="rId10" Type="http://schemas.openxmlformats.org/officeDocument/2006/relationships/image" Target="../media/image5.png"/><Relationship Id="rId4" Type="http://schemas.openxmlformats.org/officeDocument/2006/relationships/video" Target="../media/media4.mp4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2404534"/>
            <a:ext cx="8035139" cy="1646302"/>
          </a:xfrm>
        </p:spPr>
        <p:txBody>
          <a:bodyPr/>
          <a:lstStyle/>
          <a:p>
            <a:r>
              <a:rPr lang="en-US" dirty="0" smtClean="0"/>
              <a:t>Deep-fake face detection</a:t>
            </a:r>
            <a:endParaRPr lang="uk-U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8035138" cy="1096899"/>
          </a:xfrm>
        </p:spPr>
        <p:txBody>
          <a:bodyPr/>
          <a:lstStyle/>
          <a:p>
            <a:r>
              <a:rPr lang="en-US" dirty="0" err="1" smtClean="0"/>
              <a:t>Artemii</a:t>
            </a:r>
            <a:r>
              <a:rPr lang="en-US" dirty="0" smtClean="0"/>
              <a:t> </a:t>
            </a:r>
            <a:r>
              <a:rPr lang="en-US" dirty="0" err="1" smtClean="0"/>
              <a:t>Mysechko</a:t>
            </a:r>
            <a:endParaRPr lang="en-US" dirty="0" smtClean="0"/>
          </a:p>
          <a:p>
            <a:r>
              <a:rPr lang="en-US" dirty="0" smtClean="0"/>
              <a:t>MMAI-1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67881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description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n-US" dirty="0" smtClean="0"/>
              <a:t>Given a dataset of short videos – 40k samples</a:t>
            </a:r>
          </a:p>
          <a:p>
            <a:r>
              <a:rPr lang="en-GB" dirty="0"/>
              <a:t>R</a:t>
            </a:r>
            <a:r>
              <a:rPr lang="en-GB" dirty="0" smtClean="0"/>
              <a:t>ecognize </a:t>
            </a:r>
            <a:r>
              <a:rPr lang="en-GB" dirty="0"/>
              <a:t>fake </a:t>
            </a:r>
            <a:r>
              <a:rPr lang="en-GB" dirty="0" smtClean="0"/>
              <a:t>videos -</a:t>
            </a:r>
            <a:r>
              <a:rPr lang="en-GB" dirty="0"/>
              <a:t> </a:t>
            </a:r>
            <a:r>
              <a:rPr lang="en-GB" dirty="0" smtClean="0"/>
              <a:t>to </a:t>
            </a:r>
            <a:r>
              <a:rPr lang="en-GB" dirty="0"/>
              <a:t>train the binary classifier to distinguish real videos from fake </a:t>
            </a:r>
            <a:r>
              <a:rPr lang="en-GB" dirty="0" smtClean="0"/>
              <a:t>ones</a:t>
            </a:r>
            <a:endParaRPr lang="uk-UA" dirty="0"/>
          </a:p>
        </p:txBody>
      </p:sp>
      <p:pic>
        <p:nvPicPr>
          <p:cNvPr id="4" name="aadyikoqrtrmxlisqvbzrngjdrvinhex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046996" y="3602962"/>
            <a:ext cx="2438400" cy="2438400"/>
          </a:xfrm>
          <a:prstGeom prst="rect">
            <a:avLst/>
          </a:prstGeom>
        </p:spPr>
      </p:pic>
      <p:pic>
        <p:nvPicPr>
          <p:cNvPr id="5" name="aableuqfrycjgdiukncisxcrjrjfpcwq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49016" y="3602962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1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 CNN – 75%</a:t>
            </a:r>
          </a:p>
          <a:p>
            <a:r>
              <a:rPr lang="en-US" dirty="0" smtClean="0"/>
              <a:t>LSTM + CNN – 84%</a:t>
            </a:r>
          </a:p>
          <a:p>
            <a:r>
              <a:rPr lang="en-US" dirty="0" smtClean="0"/>
              <a:t>Fake video problems</a:t>
            </a:r>
          </a:p>
          <a:p>
            <a:endParaRPr lang="en-US" dirty="0" smtClean="0"/>
          </a:p>
          <a:p>
            <a:endParaRPr lang="uk-UA" dirty="0"/>
          </a:p>
        </p:txBody>
      </p:sp>
      <p:pic>
        <p:nvPicPr>
          <p:cNvPr id="4" name="aahczuetcacjjcqvciyzylivddigkwza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13894" y="1270000"/>
            <a:ext cx="2037785" cy="2037785"/>
          </a:xfrm>
          <a:prstGeom prst="rect">
            <a:avLst/>
          </a:prstGeom>
        </p:spPr>
      </p:pic>
      <p:pic>
        <p:nvPicPr>
          <p:cNvPr id="5" name="abnjvjgcyyjlncybkleihlizwurrvnbv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219988" y="3557952"/>
            <a:ext cx="2438400" cy="2438400"/>
          </a:xfrm>
          <a:prstGeom prst="rect">
            <a:avLst/>
          </a:prstGeom>
        </p:spPr>
      </p:pic>
      <p:pic>
        <p:nvPicPr>
          <p:cNvPr id="6" name="aappwesnhbfdlunxvyzsupxiaqwsqqtw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756468" y="3968185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38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9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</a:t>
            </a:r>
            <a:endParaRPr lang="uk-UA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934131"/>
              </p:ext>
            </p:extLst>
          </p:nvPr>
        </p:nvGraphicFramePr>
        <p:xfrm>
          <a:off x="677334" y="1930400"/>
          <a:ext cx="1054618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427">
                  <a:extLst>
                    <a:ext uri="{9D8B030D-6E8A-4147-A177-3AD203B41FA5}">
                      <a16:colId xmlns:a16="http://schemas.microsoft.com/office/drawing/2014/main" val="162936300"/>
                    </a:ext>
                  </a:extLst>
                </a:gridCol>
                <a:gridCol w="2521132">
                  <a:extLst>
                    <a:ext uri="{9D8B030D-6E8A-4147-A177-3AD203B41FA5}">
                      <a16:colId xmlns:a16="http://schemas.microsoft.com/office/drawing/2014/main" val="632803512"/>
                    </a:ext>
                  </a:extLst>
                </a:gridCol>
                <a:gridCol w="2135187">
                  <a:extLst>
                    <a:ext uri="{9D8B030D-6E8A-4147-A177-3AD203B41FA5}">
                      <a16:colId xmlns:a16="http://schemas.microsoft.com/office/drawing/2014/main" val="3315682061"/>
                    </a:ext>
                  </a:extLst>
                </a:gridCol>
                <a:gridCol w="1751520">
                  <a:extLst>
                    <a:ext uri="{9D8B030D-6E8A-4147-A177-3AD203B41FA5}">
                      <a16:colId xmlns:a16="http://schemas.microsoft.com/office/drawing/2014/main" val="4115237175"/>
                    </a:ext>
                  </a:extLst>
                </a:gridCol>
                <a:gridCol w="1551346">
                  <a:extLst>
                    <a:ext uri="{9D8B030D-6E8A-4147-A177-3AD203B41FA5}">
                      <a16:colId xmlns:a16="http://schemas.microsoft.com/office/drawing/2014/main" val="1858672292"/>
                    </a:ext>
                  </a:extLst>
                </a:gridCol>
                <a:gridCol w="1434577">
                  <a:extLst>
                    <a:ext uri="{9D8B030D-6E8A-4147-A177-3AD203B41FA5}">
                      <a16:colId xmlns:a16="http://schemas.microsoft.com/office/drawing/2014/main" val="4038507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№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Layer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Frames</a:t>
                      </a:r>
                      <a:r>
                        <a:rPr lang="en-US" baseline="0" dirty="0" smtClean="0"/>
                        <a:t> number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Feature map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Size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Activation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963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Video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(185,185)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050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TimeDistributed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(185,185)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66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1.1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MobileNetV2</a:t>
                      </a:r>
                      <a:endParaRPr lang="uk-UA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1280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(6,6)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49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1.2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</a:rPr>
                        <a:t>GlobalMaxPool2D</a:t>
                      </a:r>
                      <a:endParaRPr lang="uk-UA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1280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391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GRU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64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effectLst/>
                        </a:rPr>
                        <a:t>tanh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632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Dense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1024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relu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575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Dropout(0.33)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1024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626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</a:t>
                      </a:r>
                      <a:endParaRPr lang="uk-UA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Repeat</a:t>
                      </a:r>
                      <a:r>
                        <a:rPr lang="en-US" baseline="0" dirty="0" smtClean="0"/>
                        <a:t> Dense and Dropout layers dividing size by 2 and skip size 256.</a:t>
                      </a:r>
                      <a:endParaRPr lang="uk-U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uk-U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uk-U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uk-U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12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9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Dense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64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relu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20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dirty="0" smtClean="0"/>
                        <a:t>10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Dense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uk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softmax</a:t>
                      </a:r>
                      <a:endParaRPr lang="uk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374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17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uk-U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1" y="1270000"/>
            <a:ext cx="5589693" cy="31442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027" y="1270000"/>
            <a:ext cx="5589692" cy="314420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363680"/>
              </p:ext>
            </p:extLst>
          </p:nvPr>
        </p:nvGraphicFramePr>
        <p:xfrm>
          <a:off x="1471122" y="5074602"/>
          <a:ext cx="780288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51525749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789758057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3989938493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504621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Loss</a:t>
                      </a:r>
                      <a:r>
                        <a:rPr lang="en-US" sz="1400" baseline="0" dirty="0" smtClean="0"/>
                        <a:t> train/test</a:t>
                      </a:r>
                      <a:endParaRPr lang="uk-UA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Accuracy train/test</a:t>
                      </a:r>
                      <a:endParaRPr lang="uk-UA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Parameters</a:t>
                      </a:r>
                      <a:endParaRPr lang="uk-UA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Runtime GPU</a:t>
                      </a:r>
                      <a:endParaRPr lang="uk-U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48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1400" dirty="0" smtClean="0"/>
                        <a:t>0.00082</a:t>
                      </a:r>
                      <a:r>
                        <a:rPr lang="en-US" sz="1400" dirty="0" smtClean="0"/>
                        <a:t>5/0.07901</a:t>
                      </a:r>
                      <a:endParaRPr lang="uk-UA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400" dirty="0" smtClean="0"/>
                        <a:t>0.9998</a:t>
                      </a:r>
                      <a:r>
                        <a:rPr lang="en-US" sz="1400" dirty="0" smtClean="0"/>
                        <a:t>/0.9827</a:t>
                      </a:r>
                      <a:endParaRPr lang="uk-UA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400" dirty="0" smtClean="0"/>
                        <a:t>3,147,584</a:t>
                      </a:r>
                      <a:endParaRPr lang="uk-UA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 smtClean="0"/>
                        <a:t>7 min/epoch</a:t>
                      </a:r>
                      <a:endParaRPr lang="uk-U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92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16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145</TotalTime>
  <Words>136</Words>
  <Application>Microsoft Office PowerPoint</Application>
  <PresentationFormat>Widescreen</PresentationFormat>
  <Paragraphs>82</Paragraphs>
  <Slides>5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Deep-fake face detection</vt:lpstr>
      <vt:lpstr>Task description</vt:lpstr>
      <vt:lpstr>Problems</vt:lpstr>
      <vt:lpstr>Model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Deep-fake face detection</dc:title>
  <dc:creator>Art Cat</dc:creator>
  <cp:lastModifiedBy>Art Cat</cp:lastModifiedBy>
  <cp:revision>33</cp:revision>
  <dcterms:created xsi:type="dcterms:W3CDTF">2021-11-26T02:45:10Z</dcterms:created>
  <dcterms:modified xsi:type="dcterms:W3CDTF">2021-11-26T05:10:22Z</dcterms:modified>
</cp:coreProperties>
</file>